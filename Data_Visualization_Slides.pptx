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29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group and the topic. Say who will present each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visualization for exploration and communication. Anscombe (1973): identical statistics, four different stories. Always plot before trusting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Matplotlib = base (Hunter 2007). Seaborn = statistical (Waskom 2021). Plotly = interactive. Pandas = quick. They are used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question, then choose the chart. Each one is demonstrated next with code in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Tufte (2001), Cleveland &amp; McGill (1984) and Wilke (2019).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run the notebook live and explain any cell. With only 12 trainees the findings are tentative and illustrate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Visualization in Python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3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Libraries, plot types and best practices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34640"/>
            <a:ext cx="7863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MTH1203 Probability and Statistics  |  Group Research Assignment, Advent 2026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Uganda Christian University – Faculty of Engineering, Design and Technology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members: </a:t>
            </a:r>
            <a:endParaRPr lang="en-US" sz="13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endParaRPr lang="en-US" altLang="en-US" sz="13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121285" y="3632835"/>
          <a:ext cx="4918710" cy="1432560"/>
        </p:xfrm>
        <a:graphic>
          <a:graphicData uri="http://schemas.openxmlformats.org/drawingml/2006/table">
            <a:tbl>
              <a:tblPr/>
              <a:tblGrid>
                <a:gridCol w="2951480"/>
                <a:gridCol w="1967230"/>
              </a:tblGrid>
              <a:tr h="358140">
                <a:tc>
                  <a:txBody>
                    <a:bodyPr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Arial Black" panose="020B0A04020102020204" charset="0"/>
                          <a:ea typeface="Calibri" panose="020F0502020204030204"/>
                          <a:cs typeface="Arial Black" panose="020B0A04020102020204" charset="0"/>
                        </a:rPr>
                        <a:t>Wamala stuart</a:t>
                      </a:r>
                      <a:endParaRPr lang="en-US" altLang="zh-CN" sz="1100">
                        <a:latin typeface="Arial Black" panose="020B0A04020102020204" charset="0"/>
                        <a:ea typeface="Calibri" panose="020F0502020204030204"/>
                        <a:cs typeface="Arial Black" panose="020B0A04020102020204" charset="0"/>
                      </a:endParaRPr>
                    </a:p>
                  </a:txBody>
                  <a:tcPr marL="63500" marR="63500" marT="44450" marB="44450" anchor="t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Arial Black" panose="020B0A04020102020204" charset="0"/>
                          <a:ea typeface="Calibri" panose="020F0502020204030204"/>
                          <a:cs typeface="Arial Black" panose="020B0A04020102020204" charset="0"/>
                        </a:rPr>
                        <a:t>M26b13/040</a:t>
                      </a:r>
                      <a:endParaRPr lang="en-US" altLang="zh-CN" sz="1100">
                        <a:latin typeface="Arial Black" panose="020B0A04020102020204" charset="0"/>
                        <a:ea typeface="Calibri" panose="020F0502020204030204"/>
                        <a:cs typeface="Arial Black" panose="020B0A04020102020204" charset="0"/>
                      </a:endParaRPr>
                    </a:p>
                  </a:txBody>
                  <a:tcPr marL="63500" marR="63500" marT="44450" marB="44450" anchor="t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Arial Black" panose="020B0A04020102020204" charset="0"/>
                          <a:ea typeface="Calibri" panose="020F0502020204030204"/>
                          <a:cs typeface="Arial Black" panose="020B0A04020102020204" charset="0"/>
                        </a:rPr>
                        <a:t>Ssettuba imran</a:t>
                      </a:r>
                      <a:endParaRPr lang="en-US" altLang="zh-CN" sz="1100">
                        <a:latin typeface="Arial Black" panose="020B0A04020102020204" charset="0"/>
                        <a:ea typeface="Calibri" panose="020F0502020204030204"/>
                        <a:cs typeface="Arial Black" panose="020B0A04020102020204" charset="0"/>
                      </a:endParaRPr>
                    </a:p>
                  </a:txBody>
                  <a:tcPr marL="63500" marR="63500" marT="44450" marB="44450" anchor="t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Arial Black" panose="020B0A04020102020204" charset="0"/>
                          <a:ea typeface="Calibri" panose="020F0502020204030204"/>
                          <a:cs typeface="Arial Black" panose="020B0A04020102020204" charset="0"/>
                        </a:rPr>
                        <a:t>M26b13/058</a:t>
                      </a:r>
                      <a:endParaRPr lang="en-US" altLang="zh-CN" sz="1100">
                        <a:latin typeface="Arial Black" panose="020B0A04020102020204" charset="0"/>
                        <a:ea typeface="Calibri" panose="020F0502020204030204"/>
                        <a:cs typeface="Arial Black" panose="020B0A04020102020204" charset="0"/>
                      </a:endParaRPr>
                    </a:p>
                  </a:txBody>
                  <a:tcPr marL="63500" marR="63500" marT="44450" marB="44450" anchor="t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58140">
                <a:tc>
                  <a:txBody>
                    <a:bodyPr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Arial Black" panose="020B0A04020102020204" charset="0"/>
                          <a:ea typeface="Calibri" panose="020F0502020204030204"/>
                          <a:cs typeface="Arial Black" panose="020B0A04020102020204" charset="0"/>
                        </a:rPr>
                        <a:t>Ndahayo dieu est la</a:t>
                      </a:r>
                      <a:endParaRPr lang="en-US" altLang="zh-CN" sz="1100">
                        <a:latin typeface="Arial Black" panose="020B0A04020102020204" charset="0"/>
                        <a:ea typeface="Calibri" panose="020F0502020204030204"/>
                        <a:cs typeface="Arial Black" panose="020B0A04020102020204" charset="0"/>
                      </a:endParaRPr>
                    </a:p>
                  </a:txBody>
                  <a:tcPr marL="63500" marR="63500" marT="44450" marB="44450" anchor="t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Arial Black" panose="020B0A04020102020204" charset="0"/>
                          <a:ea typeface="Calibri" panose="020F0502020204030204"/>
                          <a:cs typeface="Arial Black" panose="020B0A04020102020204" charset="0"/>
                        </a:rPr>
                        <a:t>M26b13/071</a:t>
                      </a:r>
                      <a:endParaRPr lang="en-US" altLang="zh-CN" sz="1100">
                        <a:latin typeface="Arial Black" panose="020B0A04020102020204" charset="0"/>
                        <a:ea typeface="Calibri" panose="020F0502020204030204"/>
                        <a:cs typeface="Arial Black" panose="020B0A04020102020204" charset="0"/>
                      </a:endParaRPr>
                    </a:p>
                  </a:txBody>
                  <a:tcPr marL="63500" marR="63500" marT="44450" marB="44450" anchor="t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Arial Black" panose="020B0A04020102020204" charset="0"/>
                          <a:ea typeface="Calibri" panose="020F0502020204030204"/>
                          <a:cs typeface="Arial Black" panose="020B0A04020102020204" charset="0"/>
                        </a:rPr>
                        <a:t>Kaineyesu melissa</a:t>
                      </a:r>
                      <a:endParaRPr lang="en-US" altLang="zh-CN" sz="1100">
                        <a:latin typeface="Arial Black" panose="020B0A04020102020204" charset="0"/>
                        <a:ea typeface="Calibri" panose="020F0502020204030204"/>
                        <a:cs typeface="Arial Black" panose="020B0A04020102020204" charset="0"/>
                      </a:endParaRPr>
                    </a:p>
                  </a:txBody>
                  <a:tcPr marL="63500" marR="63500" marT="44450" marB="44450" anchor="t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marL="50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Arial Black" panose="020B0A04020102020204" charset="0"/>
                          <a:ea typeface="Calibri" panose="020F0502020204030204"/>
                          <a:cs typeface="Arial Black" panose="020B0A04020102020204" charset="0"/>
                        </a:rPr>
                        <a:t>M26b13/021</a:t>
                      </a:r>
                      <a:endParaRPr lang="en-US" altLang="zh-CN" sz="1100">
                        <a:latin typeface="Arial Black" panose="020B0A04020102020204" charset="0"/>
                        <a:ea typeface="Calibri" panose="020F0502020204030204"/>
                        <a:cs typeface="Arial Black" panose="020B0A04020102020204" charset="0"/>
                      </a:endParaRPr>
                    </a:p>
                  </a:txBody>
                  <a:tcPr marL="63500" marR="63500" marT="44450" marB="44450" anchor="t" anchorCtr="0">
                    <a:lnL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BFBFB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data visualization?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Showing data as graphics (charts, plots, maps) so patterns are easy to see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Exploring: shape, outliers, errors, choice of method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Communicating: results are clearer to everyone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Numbers can hide the truth: Anscombe's four datasets share the same mean, variance, r = 0.82 and line</a:t>
            </a:r>
            <a:endParaRPr lang="en-US" sz="1600" dirty="0"/>
          </a:p>
        </p:txBody>
      </p:sp>
      <p:pic>
        <p:nvPicPr>
          <p:cNvPr id="4" name="Image 0" descr="/home/claude/work/figs/fig_anscomb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286574"/>
            <a:ext cx="4114800" cy="30961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0" y="45720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Anscombe's quartet (from our notebook)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Python visualization libraries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5544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6F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Matplotlib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foundation. Full control of every detail; static, publication-quality figures.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5544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6F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Seaborn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on Matplotlib. Statistical plots, attractive defaults, works with DataFrames.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023360" cy="15544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6F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Plotly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2044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charts: hover, zoom, pan. Good for dashboards and web pages.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4023360" cy="15544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0632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6F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Pandas plotting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52044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One-line .plot() charts straight from a DataFrame. Best for quick exploration.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F0000"/>
          </a:fgClr>
          <a:bgClr>
            <a:srgbClr val="FFFF0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libraries compare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173736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Matplotlib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Seaborn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Plotly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Pandas plot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Purpose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General, full control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Statistical graphics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Interactive charts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Quick exploration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Ease of use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Moderate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Easy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Easy (Express)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Very easy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Interactive?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Customisation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Very high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Built 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NumPy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Matplotlib + Pandas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JavaScript engine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Matplotlib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practice we combine them: Pandas to prepare data, Seaborn for fast statistical plots, Matplotlib to fine-tune, Plotly for interactivity.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rgbClr val="92D050"/>
          </a:fgClr>
          <a:bgClr>
            <a:srgbClr val="FF000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plot types and when to use them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  <a:gridCol w="338328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Chart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Shows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 when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Value per category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Comparing categories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Line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Change over an ordered scale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Trends over time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Histogram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Distribution of one variable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Shape, centre, spread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Scatter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Two numerical variables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Correlation, outliers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Box plot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Median, quartiles, outliers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Comparing groups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Pie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Parts of a whole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Few categories (5 or fewer)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Heatmap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Values as colours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Correlation matrices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 chart and line chart</a:t>
            </a:r>
            <a:endParaRPr lang="en-US" sz="2800" dirty="0"/>
          </a:p>
        </p:txBody>
      </p:sp>
      <p:pic>
        <p:nvPicPr>
          <p:cNvPr id="3" name="Image 0" descr="/home/claude/work/figs/fig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19574"/>
            <a:ext cx="4114800" cy="2298612"/>
          </a:xfrm>
          <a:prstGeom prst="rect">
            <a:avLst/>
          </a:prstGeom>
        </p:spPr>
      </p:pic>
      <p:pic>
        <p:nvPicPr>
          <p:cNvPr id="4" name="Image 1" descr="/home/claude/work/figs/fig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19574"/>
            <a:ext cx="4114800" cy="229861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38862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Bar: compare categories (start at zero)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38862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Line: change along an ordered scale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A5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ax.bar(avg.index, avg.values)          ax.plot(df_sorted['LabHours'], df_sorted['Score'])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chemeClr val="bg1"/>
          </a:fgClr>
          <a:bgClr>
            <a:srgbClr val="FFC00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Histogram and scatter plot</a:t>
            </a:r>
            <a:endParaRPr lang="en-US" sz="2800" dirty="0"/>
          </a:p>
        </p:txBody>
      </p:sp>
      <p:pic>
        <p:nvPicPr>
          <p:cNvPr id="3" name="Image 0" descr="/home/claude/work/figs/fig_h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19574"/>
            <a:ext cx="4114800" cy="2298612"/>
          </a:xfrm>
          <a:prstGeom prst="rect">
            <a:avLst/>
          </a:prstGeom>
        </p:spPr>
      </p:pic>
      <p:pic>
        <p:nvPicPr>
          <p:cNvPr id="4" name="Image 1" descr="/home/claude/work/figs/fig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68816"/>
            <a:ext cx="4114800" cy="260012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38862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Histogram: distribution (mean 65.5, sd 18.1)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38862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Scatter: lab hours vs score, r = 0.99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A5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sns.histplot(df['Score'], bins=6)          sns.scatterplot(data=df, x='LabHours', y='Score')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Box plot, pie chart and heatmap</a:t>
            </a:r>
            <a:endParaRPr lang="en-US" sz="2800" dirty="0"/>
          </a:p>
        </p:txBody>
      </p:sp>
      <p:pic>
        <p:nvPicPr>
          <p:cNvPr id="3" name="Image 0" descr="/home/claude/work/figs/fig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7719"/>
            <a:ext cx="3200400" cy="2022322"/>
          </a:xfrm>
          <a:prstGeom prst="rect">
            <a:avLst/>
          </a:prstGeom>
        </p:spPr>
      </p:pic>
      <p:pic>
        <p:nvPicPr>
          <p:cNvPr id="4" name="Image 1" descr="/home/claude/work/figs/fig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84054"/>
            <a:ext cx="2377440" cy="1769652"/>
          </a:xfrm>
          <a:prstGeom prst="rect">
            <a:avLst/>
          </a:prstGeom>
        </p:spPr>
      </p:pic>
      <p:pic>
        <p:nvPicPr>
          <p:cNvPr id="5" name="Image 2" descr="/home/claude/work/figs/fig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194830"/>
            <a:ext cx="3108960" cy="2548101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274320" y="3886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Box plot: compare group spreads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3474720" y="3886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Pie: share certified (5 of 12)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5852160" y="38862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Heatmap: correlation matrix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A5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sns.boxplot(...)        plt.pie(..., autopct='%1.1f%%')        sns.heatmap(corr, annot=True)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practices for good visualization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the chart that fits the question and the data type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title, labelled axes with units, legend only when needed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colour with purpose; limit the palette; be colour-blind friendly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clutter: 3D, heavy grid, shadows; one message per chart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 honest: bars start at zero, consistent scales, show the source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Correlation is not causation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Honest vs misleading: the same data</a:t>
            </a:r>
            <a:endParaRPr lang="en-US" sz="2800" dirty="0"/>
          </a:p>
        </p:txBody>
      </p:sp>
      <p:pic>
        <p:nvPicPr>
          <p:cNvPr id="3" name="Image 0" descr="/home/claude/work/figs/fig_misle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17" y="1097280"/>
            <a:ext cx="7975366" cy="3108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Cutting the axis makes Software (50.5) look tiny next to Cybersecurity (79.8). The honest chart shows it is about 63% of it.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notebook and what the plots told us</a:t>
            </a:r>
            <a:endParaRPr lang="en-US" sz="2800" dirty="0"/>
          </a:p>
        </p:txBody>
      </p:sp>
      <p:pic>
        <p:nvPicPr>
          <p:cNvPr id="3" name="Image 0" descr="/home/claude/work/figs/fig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6706"/>
            <a:ext cx="4389120" cy="318730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937760" y="1188720"/>
            <a:ext cx="384048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trainees.xlsx, 12 trainees, 3 tracks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Scores 41 to 93: mean 65.5, sd 18.1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 hours, attendance and score rise together (r = 0.99 to 1.00)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means: Cybersecurity 79.8, Networking 66.2, Software 50.5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of 12 certified; all scored 74 or above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0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 reveals what summary statistics can hide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Matplotlib, Seaborn, Pandas and Plotly complement each other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plot type answers a specific kind of question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Clear, honest design makes charts trustworthy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6F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you. Questions?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TABLE_ENDDRAG_ORIGIN_RECT" val="387*112"/>
  <p:tag name="TABLE_ENDDRAG_RECT" val="9*286*387*11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3570</Words>
  <Application>WPS Presentation</Application>
  <PresentationFormat>On-screen Show (16:9)</PresentationFormat>
  <Paragraphs>222</Paragraphs>
  <Slides>12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Calibri</vt:lpstr>
      <vt:lpstr>Times New Roman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in Python</dc:title>
  <dc:creator>PptxGenJS</dc:creator>
  <dc:subject>PptxGenJS Presentation</dc:subject>
  <cp:lastModifiedBy>Stuart Panda</cp:lastModifiedBy>
  <cp:revision>2</cp:revision>
  <dcterms:created xsi:type="dcterms:W3CDTF">2026-09-24T15:09:00Z</dcterms:created>
  <dcterms:modified xsi:type="dcterms:W3CDTF">2026-09-24T16:42:23Z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040F1F1E03E5439E897AFAE695767684_13</vt:lpwstr>
  </property>
</Properties>
</file>